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32520" y="548640"/>
            <a:ext cx="2286000" cy="2286000"/>
          </a:xfrm>
          <a:prstGeom prst="ellipse">
            <a:avLst/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600200"/>
            <a:ext cx="1417320" cy="1417320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3246120"/>
            <a:ext cx="1005840" cy="1005840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79" y="2148840"/>
            <a:ext cx="3474720" cy="2331720"/>
          </a:xfrm>
          <a:prstGeom prst="roundRect">
            <a:avLst>
              <a:gd name="adj" fmla="val 16000"/>
            </a:avLst>
          </a:prstGeom>
          <a:solidFill>
            <a:srgbClr val="1D2C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85800"/>
            <a:ext cx="4114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FF8540"/>
                </a:solidFill>
                <a:latin typeface="Aptos"/>
              </a:rPr>
              <a:t>UI/UX CONCEPT •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585216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LOKERIN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548640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200" b="0">
                <a:solidFill>
                  <a:srgbClr val="DCE2EE"/>
                </a:solidFill>
                <a:latin typeface="Aptos"/>
              </a:rPr>
              <a:t>Temukan peluang.
Mulai perjalanan kariermu.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60520"/>
            <a:ext cx="2286000" cy="502920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70248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03B"/>
                </a:solidFill>
                <a:latin typeface="Aptos"/>
              </a:rPr>
              <a:t>DESAIN APLIKASI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53035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AAB4C8"/>
                </a:solidFill>
                <a:latin typeface="Aptos"/>
              </a:rPr>
              <a:t>Konsep aplikasi pencarian lowongan kerja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514600"/>
            <a:ext cx="2743200" cy="15087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65008" y="2761488"/>
            <a:ext cx="438912" cy="43891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13648" y="2724912"/>
            <a:ext cx="1645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4203B"/>
                </a:solidFill>
                <a:latin typeface="Aptos"/>
              </a:rPr>
              <a:t>UI/UX Designer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3017520"/>
            <a:ext cx="16459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Medan • Full-time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3456432"/>
            <a:ext cx="1097280" cy="256032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3493008"/>
            <a:ext cx="960120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238F68"/>
                </a:solidFill>
                <a:latin typeface="Aptos"/>
              </a:rPr>
              <a:t>Rp 7–10 jt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AB4C8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01 • GAMBARAN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Satu aplikasi untuk mencari kerja lebih mudah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LOKERIN membantu pencari kerja menemukan lowongan yang sesuai dan memantau proses lamaran.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4937760" cy="347472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420624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LOKERIN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16052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Cari pekerjaan yang cocok,
bukan sekadar banyak pilihan.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411480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CDD6E6"/>
                </a:solidFill>
                <a:latin typeface="Aptos"/>
              </a:rPr>
              <a:t>Pencarian • Filter • Detail • Lamaran • Status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236829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33172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Tujuan utama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42615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Mempertemukan pencari kerja dengan lowongan relevan.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3374136"/>
            <a:ext cx="164592" cy="164592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333756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Pengguna sasaran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4845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Mahasiswa, fresh graduate, dan pencari kerja aktif.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4379976"/>
            <a:ext cx="164592" cy="164592"/>
          </a:xfrm>
          <a:prstGeom prst="ellipse">
            <a:avLst/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434340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Nilai yang ditawarkan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465429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Informasi jelas, alur sederhana, dan status transparan.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02 • MASALAH &amp; SOLUSI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Pencarian kerja seharusnya tidak membingungkan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Desain berfokus pada kebutuhan pengguna saat menemukan hingga melamar pekerjaan.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66360" cy="3383280"/>
          </a:xfrm>
          <a:prstGeom prst="roundRect">
            <a:avLst>
              <a:gd name="adj" fmla="val 16000"/>
            </a:avLst>
          </a:prstGeom>
          <a:solidFill>
            <a:srgbClr val="F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4389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8540"/>
                </a:solidFill>
                <a:latin typeface="Aptos"/>
              </a:rPr>
              <a:t>TANTANGAN PENGGUNA</a:t>
            </a:r>
          </a:p>
        </p:txBody>
      </p:sp>
      <p:sp>
        <p:nvSpPr>
          <p:cNvPr id="7" name="Oval 6"/>
          <p:cNvSpPr/>
          <p:nvPr/>
        </p:nvSpPr>
        <p:spPr>
          <a:xfrm>
            <a:off x="1051560" y="309981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306324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Lowongan terlalu banyak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337413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Sulit memilah posisi yang sesuai kemampuan.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410565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40690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Informasi terpencar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437997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Gaji, lokasi, dan syarat tidak selalu terlihat cepat.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166360" cy="338328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43891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38F68"/>
                </a:solidFill>
                <a:latin typeface="Aptos"/>
              </a:rPr>
              <a:t>SOLUSI LOKERIN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3099816"/>
            <a:ext cx="164592" cy="164592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306324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Filter yang praktis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76288" y="337413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Pilih lokasi, tipe kerja, dan rentang gaji.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4105656"/>
            <a:ext cx="164592" cy="164592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0690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Ringkasan yang jelas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37997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Informasi penting ditampilkan dalam kartu lowongan.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03 • IDENTITAS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Tampilan tegas, ramah, dan mudah dibaca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Palet baru memakai navy sebagai warna utama dengan oranye untuk penekanan dan aksi.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331720"/>
            <a:ext cx="1965960" cy="132588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22191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Midnight Navy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14800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187"/>
                </a:solidFill>
                <a:latin typeface="Aptos"/>
              </a:rPr>
              <a:t>#14203B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44952" y="2331720"/>
            <a:ext cx="1965960" cy="1325880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3822191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Electric Orange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2" y="4114800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187"/>
                </a:solidFill>
                <a:latin typeface="Aptos"/>
              </a:rPr>
              <a:t>#FF8540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12664" y="2331720"/>
            <a:ext cx="1965960" cy="1325880"/>
          </a:xfrm>
          <a:prstGeom prst="roundRect">
            <a:avLst>
              <a:gd name="adj" fmla="val 16000"/>
            </a:avLst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12664" y="3822191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Soft Ivory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12664" y="4114800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187"/>
                </a:solidFill>
                <a:latin typeface="Aptos"/>
              </a:rPr>
              <a:t>#F8F7F3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0375" y="2331720"/>
            <a:ext cx="1965960" cy="132588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0375" y="3822191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Fresh Mint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0375" y="4114800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187"/>
                </a:solidFill>
                <a:latin typeface="Aptos"/>
              </a:rPr>
              <a:t>#DAF2E6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48088" y="2331720"/>
            <a:ext cx="1965960" cy="1325880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48088" y="3822191"/>
            <a:ext cx="20116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Muted Blue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48088" y="4114800"/>
            <a:ext cx="2011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667187"/>
                </a:solidFill>
                <a:latin typeface="Aptos"/>
              </a:rPr>
              <a:t>#EBEFF7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4937760" cy="73152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5102352"/>
            <a:ext cx="4480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Tombol utama • Lamar Sekarang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892040"/>
            <a:ext cx="2057400" cy="731520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5102352"/>
            <a:ext cx="17373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03B"/>
                </a:solidFill>
                <a:latin typeface="Aptos"/>
              </a:rPr>
              <a:t>Aksi utama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4892040"/>
            <a:ext cx="2560320" cy="731520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5102352"/>
            <a:ext cx="2194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5395E"/>
                </a:solidFill>
                <a:latin typeface="Aptos"/>
              </a:rPr>
              <a:t>Filter / kategori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04 • ALUR APLIKASI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Mulai dengan pengalaman yang sederhana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Layar pembuka membangun identitas, lalu login memberi akses yang cepat.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2560320" cy="438912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6696" y="1920240"/>
            <a:ext cx="2395727" cy="420624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36115" y="1938528"/>
            <a:ext cx="716889" cy="109728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10512" y="3035808"/>
            <a:ext cx="777240" cy="777240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3950208"/>
            <a:ext cx="17373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LOKERIN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39" y="4407408"/>
            <a:ext cx="192024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DCE2EE"/>
                </a:solidFill>
                <a:latin typeface="Aptos"/>
              </a:rPr>
              <a:t>Temukan kerja
impianmu</a:t>
            </a:r>
          </a:p>
        </p:txBody>
      </p:sp>
      <p:sp>
        <p:nvSpPr>
          <p:cNvPr id="11" name="Oval 10"/>
          <p:cNvSpPr/>
          <p:nvPr/>
        </p:nvSpPr>
        <p:spPr>
          <a:xfrm>
            <a:off x="1828800" y="5276088"/>
            <a:ext cx="109728" cy="109728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57400" y="5276088"/>
            <a:ext cx="109728" cy="109728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86000" y="5276088"/>
            <a:ext cx="109728" cy="109728"/>
          </a:xfrm>
          <a:prstGeom prst="ellipse">
            <a:avLst/>
          </a:prstGeom>
          <a:solidFill>
            <a:srgbClr val="E6E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6355080"/>
            <a:ext cx="26517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3B"/>
                </a:solidFill>
                <a:latin typeface="Aptos"/>
              </a:rPr>
              <a:t>01  SPLASH SCREEN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39" y="1828800"/>
            <a:ext cx="2560320" cy="438912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59935" y="1920240"/>
            <a:ext cx="2395727" cy="4206240"/>
          </a:xfrm>
          <a:prstGeom prst="roundRect">
            <a:avLst>
              <a:gd name="adj" fmla="val 16000"/>
            </a:avLst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99355" y="1938528"/>
            <a:ext cx="716889" cy="109728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2624328"/>
            <a:ext cx="1828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Selamat datang!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054096"/>
            <a:ext cx="1828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Masuk untuk mulai mencari kerja.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675887"/>
            <a:ext cx="192024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6552" y="3785615"/>
            <a:ext cx="1737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Email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361688"/>
            <a:ext cx="1920240" cy="4389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4471416"/>
            <a:ext cx="1737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Password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001768"/>
            <a:ext cx="1920240" cy="45720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5120640"/>
            <a:ext cx="18288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Masuk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6355080"/>
            <a:ext cx="2743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3B"/>
                </a:solidFill>
                <a:latin typeface="Aptos"/>
              </a:rPr>
              <a:t>02  LOGIN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0" y="250545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8" y="24688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Fokus utama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8" y="277977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Identitas aplikasi terlihat sejak awal.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0" y="351129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07808" y="347472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Form ringkas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07808" y="3785615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Kolom email dan password mudah dikenali.</a:t>
            </a:r>
          </a:p>
        </p:txBody>
      </p:sp>
      <p:sp>
        <p:nvSpPr>
          <p:cNvPr id="33" name="Oval 32"/>
          <p:cNvSpPr/>
          <p:nvPr/>
        </p:nvSpPr>
        <p:spPr>
          <a:xfrm>
            <a:off x="7315200" y="451713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8" y="448056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Aksi jelas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7808" y="479145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Tombol masuk menjadi elemen paling menonjol.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05 • BERANDA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Rekomendasi lowongan langsung terlihat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Pencarian, kategori, dan kartu lowongan disusun dalam hierarki yang mudah dipindai.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3063240" cy="457200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6696" y="1828800"/>
            <a:ext cx="2898648" cy="43891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7166" y="1847088"/>
            <a:ext cx="857707" cy="109728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2258568"/>
            <a:ext cx="25146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3B"/>
                </a:solidFill>
                <a:latin typeface="Aptos"/>
              </a:rPr>
              <a:t>Halo, Anna 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2560320"/>
            <a:ext cx="2514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Temukan loker hari 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944368"/>
            <a:ext cx="2514600" cy="411480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063239"/>
            <a:ext cx="22402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⌕  Cari posisi atau perusahaan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493008"/>
            <a:ext cx="713232" cy="292608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3566159"/>
            <a:ext cx="67665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Semua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84248" y="3493008"/>
            <a:ext cx="713232" cy="292608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02536" y="3566159"/>
            <a:ext cx="67665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25395E"/>
                </a:solidFill>
                <a:latin typeface="Aptos"/>
              </a:rPr>
              <a:t>Desain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9776" y="3493008"/>
            <a:ext cx="713232" cy="292608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98064" y="3566159"/>
            <a:ext cx="676656" cy="12801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25395E"/>
                </a:solidFill>
                <a:latin typeface="Aptos"/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968496"/>
            <a:ext cx="25146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4203B"/>
                </a:solidFill>
                <a:latin typeface="Aptos"/>
              </a:rPr>
              <a:t>Rekomendasi untukmu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4297679"/>
            <a:ext cx="2514600" cy="822960"/>
          </a:xfrm>
          <a:prstGeom prst="roundRect">
            <a:avLst>
              <a:gd name="adj" fmla="val 16000"/>
            </a:avLst>
          </a:prstGeom>
          <a:solidFill>
            <a:srgbClr val="F8F7F3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07592" y="4462271"/>
            <a:ext cx="347472" cy="34747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55648" y="4407407"/>
            <a:ext cx="17830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14203B"/>
                </a:solidFill>
                <a:latin typeface="Aptos"/>
              </a:rPr>
              <a:t>UI/UX Designer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55648" y="4626864"/>
            <a:ext cx="1783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600" b="0">
                <a:solidFill>
                  <a:srgbClr val="667187"/>
                </a:solidFill>
                <a:latin typeface="Aptos"/>
              </a:rPr>
              <a:t>Kreasi Digital • Medan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4855464"/>
            <a:ext cx="1783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238F68"/>
                </a:solidFill>
                <a:latin typeface="Aptos"/>
              </a:rPr>
              <a:t>Rp 7–10 jt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5257799"/>
            <a:ext cx="2514600" cy="822960"/>
          </a:xfrm>
          <a:prstGeom prst="roundRect">
            <a:avLst>
              <a:gd name="adj" fmla="val 16000"/>
            </a:avLst>
          </a:prstGeom>
          <a:solidFill>
            <a:srgbClr val="F8F7F3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07592" y="5422391"/>
            <a:ext cx="347472" cy="347472"/>
          </a:xfrm>
          <a:prstGeom prst="ellipse">
            <a:avLst/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755648" y="5367527"/>
            <a:ext cx="17830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14203B"/>
                </a:solidFill>
                <a:latin typeface="Aptos"/>
              </a:rPr>
              <a:t>Admin Marketing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5586983"/>
            <a:ext cx="1783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600" b="0">
                <a:solidFill>
                  <a:srgbClr val="667187"/>
                </a:solidFill>
                <a:latin typeface="Aptos"/>
              </a:rPr>
              <a:t>Maju Bersama • Medan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815583"/>
            <a:ext cx="17830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238F68"/>
                </a:solidFill>
                <a:latin typeface="Aptos"/>
              </a:rPr>
              <a:t>Rp 4–5 jt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2286000"/>
            <a:ext cx="62179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4203B"/>
                </a:solidFill>
                <a:latin typeface="Aptos"/>
              </a:rPr>
              <a:t>Elemen utama beranda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0" y="300837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64608" y="297180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Kolom pencarian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4608" y="328269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Pengguna dapat mencari berdasarkan posisi atau perusahaan.</a:t>
            </a:r>
          </a:p>
        </p:txBody>
      </p:sp>
      <p:sp>
        <p:nvSpPr>
          <p:cNvPr id="33" name="Oval 32"/>
          <p:cNvSpPr/>
          <p:nvPr/>
        </p:nvSpPr>
        <p:spPr>
          <a:xfrm>
            <a:off x="4572000" y="3877056"/>
            <a:ext cx="164592" cy="164592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64608" y="38404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Kategori cepat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64608" y="415137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Chip membantu mempersempit pilihan.</a:t>
            </a:r>
          </a:p>
        </p:txBody>
      </p:sp>
      <p:sp>
        <p:nvSpPr>
          <p:cNvPr id="36" name="Oval 35"/>
          <p:cNvSpPr/>
          <p:nvPr/>
        </p:nvSpPr>
        <p:spPr>
          <a:xfrm>
            <a:off x="4572000" y="4745736"/>
            <a:ext cx="164592" cy="164592"/>
          </a:xfrm>
          <a:prstGeom prst="ellipse">
            <a:avLst/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470916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Kartu lowongan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64608" y="502005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Perusahaan, lokasi, tipe kerja, dan gaji terlihat sekilas.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06 • FILTER &amp;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Dari pencarian menuju keputusan melamar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Filter mengurangi pilihan, sementara halaman detail membantu pengguna mengecek kecocokan.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886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43891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4203B"/>
                </a:solidFill>
                <a:latin typeface="Aptos"/>
              </a:rPr>
              <a:t>Cari &amp; 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4389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7187"/>
                </a:solidFill>
                <a:latin typeface="Aptos"/>
              </a:rPr>
              <a:t>Posisi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35808"/>
            <a:ext cx="4434840" cy="411480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136392"/>
            <a:ext cx="411480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25395E"/>
                </a:solidFill>
                <a:latin typeface="Aptos"/>
              </a:rPr>
              <a:t>UI/UX Designer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611880"/>
            <a:ext cx="4389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7187"/>
                </a:solidFill>
                <a:latin typeface="Aptos"/>
              </a:rPr>
              <a:t>Lokasi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3913632"/>
            <a:ext cx="1234440" cy="36576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9848" y="4005072"/>
            <a:ext cx="119786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Medan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913632"/>
            <a:ext cx="1234440" cy="365760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87168" y="4005072"/>
            <a:ext cx="119786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25395E"/>
                </a:solidFill>
                <a:latin typeface="Aptos"/>
              </a:rPr>
              <a:t>Remote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3913632"/>
            <a:ext cx="1234440" cy="365760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4487" y="4005072"/>
            <a:ext cx="119786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800" b="1">
                <a:solidFill>
                  <a:srgbClr val="25395E"/>
                </a:solidFill>
                <a:latin typeface="Aptos"/>
              </a:rPr>
              <a:t>Jakarta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462272"/>
            <a:ext cx="4389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667187"/>
                </a:solidFill>
                <a:latin typeface="Aptos"/>
              </a:rPr>
              <a:t>Tipe kerja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754880"/>
            <a:ext cx="1234440" cy="36576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846320"/>
            <a:ext cx="119786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238F68"/>
                </a:solidFill>
                <a:latin typeface="Aptos"/>
              </a:rPr>
              <a:t>Full-time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4754880"/>
            <a:ext cx="1234440" cy="36576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87168" y="4846320"/>
            <a:ext cx="119786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238F68"/>
                </a:solidFill>
                <a:latin typeface="Aptos"/>
              </a:rPr>
              <a:t>Magang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754880"/>
            <a:ext cx="1234440" cy="36576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04487" y="4846320"/>
            <a:ext cx="1197864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238F68"/>
                </a:solidFill>
                <a:latin typeface="Aptos"/>
              </a:rPr>
              <a:t>Freelance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51560" y="5285232"/>
            <a:ext cx="4434840" cy="384048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85816"/>
            <a:ext cx="4251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14203B"/>
                </a:solidFill>
                <a:latin typeface="Aptos"/>
              </a:rPr>
              <a:t>Tampilkan lowongan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011680"/>
            <a:ext cx="5166360" cy="388620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29400" y="2331720"/>
            <a:ext cx="502920" cy="502920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2340864"/>
            <a:ext cx="3566160" cy="29260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UI/UX Designer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2670048"/>
            <a:ext cx="35661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CBD4E5"/>
                </a:solidFill>
                <a:latin typeface="Aptos"/>
              </a:rPr>
              <a:t>Kreasi Digital • Medan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29400" y="3154680"/>
            <a:ext cx="2011680" cy="566928"/>
          </a:xfrm>
          <a:prstGeom prst="roundRect">
            <a:avLst>
              <a:gd name="adj" fmla="val 16000"/>
            </a:avLst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39128" y="3227832"/>
            <a:ext cx="1783080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BECADE"/>
                </a:solidFill>
                <a:latin typeface="Aptos"/>
              </a:rPr>
              <a:t>GAJI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3429000"/>
            <a:ext cx="17830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Rp 7–10 jt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23960" y="3154680"/>
            <a:ext cx="2011680" cy="566928"/>
          </a:xfrm>
          <a:prstGeom prst="roundRect">
            <a:avLst>
              <a:gd name="adj" fmla="val 16000"/>
            </a:avLst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33688" y="3227832"/>
            <a:ext cx="1783080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BECADE"/>
                </a:solidFill>
                <a:latin typeface="Aptos"/>
              </a:rPr>
              <a:t>TIPE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33688" y="3429000"/>
            <a:ext cx="17830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Full-time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29400" y="3840480"/>
            <a:ext cx="2011680" cy="566928"/>
          </a:xfrm>
          <a:prstGeom prst="roundRect">
            <a:avLst>
              <a:gd name="adj" fmla="val 16000"/>
            </a:avLst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39128" y="3913632"/>
            <a:ext cx="1783080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BECADE"/>
                </a:solidFill>
                <a:latin typeface="Aptos"/>
              </a:rPr>
              <a:t>LOKASI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4114800"/>
            <a:ext cx="17830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Medan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23960" y="3840480"/>
            <a:ext cx="2011680" cy="566928"/>
          </a:xfrm>
          <a:prstGeom prst="roundRect">
            <a:avLst>
              <a:gd name="adj" fmla="val 16000"/>
            </a:avLst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33688" y="3913632"/>
            <a:ext cx="1783080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1">
                <a:solidFill>
                  <a:srgbClr val="BECADE"/>
                </a:solidFill>
                <a:latin typeface="Aptos"/>
              </a:rPr>
              <a:t>PENGALAMAN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4114800"/>
            <a:ext cx="17830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1–2 tahun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645152"/>
            <a:ext cx="42062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Aptos"/>
              </a:rPr>
              <a:t>Deskripsi dan persyaratan pekerjaan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5074920"/>
            <a:ext cx="4343400" cy="438912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5193792"/>
            <a:ext cx="4069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3B"/>
                </a:solidFill>
                <a:latin typeface="Aptos"/>
              </a:rPr>
              <a:t>Lamar Sekarang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07 • PROSES LAMARAN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Alur melamar dibuat singkat dan meyakinkan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Pengguna mengunggah CV, menulis pesan singkat, lalu menerima konfirmasi pengiriman.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2880360" cy="452628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96696" y="1874519"/>
            <a:ext cx="2715768" cy="4343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51329" y="1892807"/>
            <a:ext cx="806500" cy="109728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39" y="2395728"/>
            <a:ext cx="22402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4203B"/>
                </a:solidFill>
                <a:latin typeface="Aptos"/>
              </a:rPr>
              <a:t>Lamar Pekerjaan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39" y="2761488"/>
            <a:ext cx="22402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0">
                <a:solidFill>
                  <a:srgbClr val="667187"/>
                </a:solidFill>
                <a:latin typeface="Aptos"/>
              </a:rPr>
              <a:t>Langkah 2 dari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39" y="3035808"/>
            <a:ext cx="2240280" cy="109728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39" y="3035808"/>
            <a:ext cx="1478584" cy="109728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4439" y="3401568"/>
            <a:ext cx="2240280" cy="86868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solidFill>
              <a:srgbClr val="238F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630168"/>
            <a:ext cx="1965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238F68"/>
                </a:solidFill>
                <a:latin typeface="Aptos"/>
              </a:rPr>
              <a:t>↑  Unggah CV kamu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922776"/>
            <a:ext cx="1965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0">
                <a:solidFill>
                  <a:srgbClr val="667187"/>
                </a:solidFill>
                <a:latin typeface="Aptos"/>
              </a:rPr>
              <a:t>PDF • Maksimal 5 MB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39" y="443484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F8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53312" y="4562856"/>
            <a:ext cx="20116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14203B"/>
                </a:solidFill>
                <a:latin typeface="Aptos"/>
              </a:rPr>
              <a:t>CV_Rina.pdf  •  1,2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39" y="5047488"/>
            <a:ext cx="22402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1">
                <a:solidFill>
                  <a:srgbClr val="14203B"/>
                </a:solidFill>
                <a:latin typeface="Aptos"/>
              </a:rPr>
              <a:t>Pesan untuk perekrut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39" y="5294376"/>
            <a:ext cx="2240280" cy="438912"/>
          </a:xfrm>
          <a:prstGeom prst="roundRect">
            <a:avLst>
              <a:gd name="adj" fmla="val 16000"/>
            </a:avLst>
          </a:prstGeom>
          <a:solidFill>
            <a:srgbClr val="EBE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53312" y="5394960"/>
            <a:ext cx="20116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00" b="0">
                <a:solidFill>
                  <a:srgbClr val="667187"/>
                </a:solidFill>
                <a:latin typeface="Aptos"/>
              </a:rPr>
              <a:t>Tulis pesan singkat...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34439" y="5843016"/>
            <a:ext cx="2240280" cy="384048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80160" y="5943600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Kirim Lamaran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1828800"/>
            <a:ext cx="6309360" cy="4297680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86600" y="2331720"/>
            <a:ext cx="914400" cy="914400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68896" y="2542032"/>
            <a:ext cx="749808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429000"/>
            <a:ext cx="448056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4203B"/>
                </a:solidFill>
                <a:latin typeface="Aptos"/>
              </a:rPr>
              <a:t>Lamaran terkirim!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3886200"/>
            <a:ext cx="43891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67187"/>
                </a:solidFill>
                <a:latin typeface="Aptos"/>
              </a:rPr>
              <a:t>Perekrut akan meninjau CV-mu.
Pantau perkembangannya di menu Lamaran Saya.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754880"/>
            <a:ext cx="4297680" cy="438912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06440" y="4873752"/>
            <a:ext cx="40233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Lihat Status Lamaran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5394960"/>
            <a:ext cx="42976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00" b="1">
                <a:solidFill>
                  <a:srgbClr val="238F68"/>
                </a:solidFill>
                <a:latin typeface="Aptos"/>
              </a:rPr>
              <a:t>Atau cari lowongan lainnya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4389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08 • STATUS LAMARAN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58952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4203B"/>
                </a:solidFill>
                <a:latin typeface="Aptos"/>
              </a:rPr>
              <a:t>Semua proses lamaran dalam satu tempat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105156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67187"/>
                </a:solidFill>
                <a:latin typeface="Aptos"/>
              </a:rPr>
              <a:t>Status ditampilkan dengan label teks dan warna agar pengguna memahami perkembangan setiap lamaran.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6400800" cy="896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350008"/>
            <a:ext cx="457200" cy="457200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229514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UI/UX Designer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578608"/>
            <a:ext cx="3108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187"/>
                </a:solidFill>
                <a:latin typeface="Aptos"/>
              </a:rPr>
              <a:t>Kreasi Digital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313432"/>
            <a:ext cx="2011680" cy="310896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56048" y="2386584"/>
            <a:ext cx="1874519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14203B"/>
                </a:solidFill>
                <a:latin typeface="Aptos"/>
              </a:rPr>
              <a:t>Wawancara • 16 Okt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697480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0">
                <a:solidFill>
                  <a:srgbClr val="667187"/>
                </a:solidFill>
                <a:latin typeface="Aptos"/>
              </a:rPr>
              <a:t>Tahap 3 dari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291840"/>
            <a:ext cx="6400800" cy="896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97280" y="3493008"/>
            <a:ext cx="457200" cy="457200"/>
          </a:xfrm>
          <a:prstGeom prst="ellipse">
            <a:avLst/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43814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Admin Marketing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721608"/>
            <a:ext cx="3108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187"/>
                </a:solidFill>
                <a:latin typeface="Aptos"/>
              </a:rPr>
              <a:t>Maju Bersama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456432"/>
            <a:ext cx="2011680" cy="310896"/>
          </a:xfrm>
          <a:prstGeom prst="roundRect">
            <a:avLst>
              <a:gd name="adj" fmla="val 16000"/>
            </a:avLst>
          </a:prstGeom>
          <a:solidFill>
            <a:srgbClr val="E6E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56048" y="3529584"/>
            <a:ext cx="1874519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14203B"/>
                </a:solidFill>
                <a:latin typeface="Aptos"/>
              </a:rPr>
              <a:t>Sedang ditinjau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840480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0">
                <a:solidFill>
                  <a:srgbClr val="667187"/>
                </a:solidFill>
                <a:latin typeface="Aptos"/>
              </a:rPr>
              <a:t>CV sedang diperiksa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434840"/>
            <a:ext cx="6400800" cy="89611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solidFill>
              <a:srgbClr val="EB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4636007"/>
            <a:ext cx="457200" cy="457200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37360" y="4581144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4203B"/>
                </a:solidFill>
                <a:latin typeface="Aptos"/>
              </a:rPr>
              <a:t>Content Creator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864607"/>
            <a:ext cx="31089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667187"/>
                </a:solidFill>
                <a:latin typeface="Aptos"/>
              </a:rPr>
              <a:t>Sinar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599431"/>
            <a:ext cx="2011680" cy="310896"/>
          </a:xfrm>
          <a:prstGeom prst="roundRect">
            <a:avLst>
              <a:gd name="adj" fmla="val 16000"/>
            </a:avLst>
          </a:prstGeom>
          <a:solidFill>
            <a:srgbClr val="DA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4672583"/>
            <a:ext cx="1874519" cy="14630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1">
                <a:solidFill>
                  <a:srgbClr val="14203B"/>
                </a:solidFill>
                <a:latin typeface="Aptos"/>
              </a:rPr>
              <a:t>Lamaran terkirim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983479"/>
            <a:ext cx="201168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700" b="0">
                <a:solidFill>
                  <a:srgbClr val="667187"/>
                </a:solidFill>
                <a:latin typeface="Aptos"/>
              </a:rPr>
              <a:t>Menunggu respons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148840"/>
            <a:ext cx="3429000" cy="3200400"/>
          </a:xfrm>
          <a:prstGeom prst="roundRect">
            <a:avLst>
              <a:gd name="adj" fmla="val 16000"/>
            </a:avLst>
          </a:prstGeom>
          <a:solidFill>
            <a:srgbClr val="142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468880"/>
            <a:ext cx="2834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Manfaat fitur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138160" y="3099816"/>
            <a:ext cx="164592" cy="164592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0768" y="306324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Lebih transparan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0768" y="337413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Pengguna tahu tahap prosesnya.</a:t>
            </a:r>
          </a:p>
        </p:txBody>
      </p:sp>
      <p:sp>
        <p:nvSpPr>
          <p:cNvPr id="31" name="Oval 30"/>
          <p:cNvSpPr/>
          <p:nvPr/>
        </p:nvSpPr>
        <p:spPr>
          <a:xfrm>
            <a:off x="8138160" y="4059936"/>
            <a:ext cx="164592" cy="164592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0768" y="402336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3B"/>
                </a:solidFill>
                <a:latin typeface="Aptos"/>
              </a:rPr>
              <a:t>Mudah dipantau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4334256"/>
            <a:ext cx="41148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67187"/>
                </a:solidFill>
                <a:latin typeface="Aptos"/>
              </a:rPr>
              <a:t>Tidak perlu mencari informasi di banyak tempat.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510528"/>
            <a:ext cx="4389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667187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685800"/>
            <a:ext cx="2194560" cy="2194560"/>
          </a:xfrm>
          <a:prstGeom prst="ellipse">
            <a:avLst/>
          </a:prstGeom>
          <a:solidFill>
            <a:srgbClr val="253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29800" y="1828800"/>
            <a:ext cx="1463040" cy="1463040"/>
          </a:xfrm>
          <a:prstGeom prst="ellipse">
            <a:avLst/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3794760"/>
            <a:ext cx="1051560" cy="1051560"/>
          </a:xfrm>
          <a:prstGeom prst="ellipse">
            <a:avLst/>
          </a:prstGeom>
          <a:solidFill>
            <a:srgbClr val="238F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3657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F8540"/>
                </a:solidFill>
                <a:latin typeface="Aptos"/>
              </a:rPr>
              <a:t>LOKERIN • PENUTUP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62179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Peluang baru,
langkah lebih mudah.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46120"/>
            <a:ext cx="530352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500" b="0">
                <a:solidFill>
                  <a:srgbClr val="CDD6E6"/>
                </a:solidFill>
                <a:latin typeface="Aptos"/>
              </a:rPr>
              <a:t>Desain yang berfokus pada pengguna membuat pencarian kerja terasa lebih terarah, praktis, dan transparan.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2423160" cy="530352"/>
          </a:xfrm>
          <a:prstGeom prst="roundRect">
            <a:avLst>
              <a:gd name="adj" fmla="val 16000"/>
            </a:avLst>
          </a:prstGeom>
          <a:solidFill>
            <a:srgbClr val="FF8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754880"/>
            <a:ext cx="214884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4203B"/>
                </a:solidFill>
                <a:latin typeface="Aptos"/>
              </a:rPr>
              <a:t>TERIMA KASIH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989320"/>
            <a:ext cx="5394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800" b="1">
                <a:solidFill>
                  <a:srgbClr val="AAB4C8"/>
                </a:solidFill>
                <a:latin typeface="Aptos"/>
              </a:rPr>
              <a:t>LOKERIN  /  DESAIN APLIKASI PENCARI KERJA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57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900" b="1">
                <a:solidFill>
                  <a:srgbClr val="FF854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